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Cormorant Garamond"/>
      <p:bold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2D5B3E-0658-417B-8852-00C64B00A29C}">
  <a:tblStyle styleId="{542D5B3E-0658-417B-8852-00C64B00A2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CormorantGaramond-bold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ormorantGaramon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32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31106e3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631106e32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31106e32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631106e32_2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631106e32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631106e32_2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31106e32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631106e32_2_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631106e32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631106e32_2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631106e32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631106e32_2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631106e32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b631106e32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631106e32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b631106e32_2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631106e3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b631106e32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31106e3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b631106e32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631106e3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b631106e32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631106e32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b631106e32_2_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6392307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6392307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631106e32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b631106e32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631106e32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b631106e32_2_2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631106e32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b631106e32_2_2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631106e32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b631106e32_2_2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631106e32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b631106e32_2_2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631106e32_2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b631106e32_2_2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631106e32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b631106e32_2_2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8904494" y="4803775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700"/>
          </a:p>
        </p:txBody>
      </p:sp>
      <p:pic>
        <p:nvPicPr>
          <p:cNvPr id="130" name="Google Shape;130;p25" title="Screenshot 2026-01-11 at 16.42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" y="0"/>
            <a:ext cx="913854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26"/>
          <p:cNvGraphicFramePr/>
          <p:nvPr/>
        </p:nvGraphicFramePr>
        <p:xfrm>
          <a:off x="573245" y="1602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{542D5B3E-0658-417B-8852-00C64B00A29C}</a:tableStyleId>
              </a:tblPr>
              <a:tblGrid>
                <a:gridCol w="429275"/>
                <a:gridCol w="3437375"/>
                <a:gridCol w="429450"/>
                <a:gridCol w="3233700"/>
              </a:tblGrid>
              <a:tr h="75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 et Problématique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 Post-Optimale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État de l’art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 et Perspectives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Modélisation du problème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Références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6"/>
          <p:cNvSpPr txBox="1"/>
          <p:nvPr/>
        </p:nvSpPr>
        <p:spPr>
          <a:xfrm>
            <a:off x="573245" y="725936"/>
            <a:ext cx="2995852" cy="911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100" u="none" cap="none" strike="noStrike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Sommaire</a:t>
            </a:r>
            <a:endParaRPr sz="700"/>
          </a:p>
          <a:p>
            <a:pPr indent="0" lvl="0" marL="0" marR="0" rtl="0" algn="l">
              <a:lnSpc>
                <a:spcPct val="8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00" u="none" cap="none" strike="noStrike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573245" y="1193685"/>
            <a:ext cx="1497926" cy="187922"/>
          </a:xfrm>
          <a:custGeom>
            <a:rect b="b" l="l" r="r" t="t"/>
            <a:pathLst>
              <a:path extrusionOk="0" h="375843" w="2995852">
                <a:moveTo>
                  <a:pt x="0" y="0"/>
                </a:moveTo>
                <a:lnTo>
                  <a:pt x="2995853" y="0"/>
                </a:lnTo>
                <a:lnTo>
                  <a:pt x="2995853" y="375844"/>
                </a:lnTo>
                <a:lnTo>
                  <a:pt x="0" y="375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6"/>
          <p:cNvSpPr/>
          <p:nvPr/>
        </p:nvSpPr>
        <p:spPr>
          <a:xfrm>
            <a:off x="0" y="4629150"/>
            <a:ext cx="9144000" cy="514350"/>
          </a:xfrm>
          <a:custGeom>
            <a:rect b="b" l="l" r="r" t="t"/>
            <a:pathLst>
              <a:path extrusionOk="0" h="191857" w="3410800">
                <a:moveTo>
                  <a:pt x="0" y="0"/>
                </a:moveTo>
                <a:lnTo>
                  <a:pt x="3410800" y="0"/>
                </a:lnTo>
                <a:lnTo>
                  <a:pt x="3410800" y="191857"/>
                </a:lnTo>
                <a:lnTo>
                  <a:pt x="0" y="191857"/>
                </a:lnTo>
                <a:close/>
              </a:path>
            </a:pathLst>
          </a:custGeom>
          <a:solidFill>
            <a:srgbClr val="DDE3E0"/>
          </a:solidFill>
          <a:ln>
            <a:noFill/>
          </a:ln>
        </p:spPr>
      </p:sp>
      <p:sp>
        <p:nvSpPr>
          <p:cNvPr id="139" name="Google Shape;139;p26"/>
          <p:cNvSpPr txBox="1"/>
          <p:nvPr/>
        </p:nvSpPr>
        <p:spPr>
          <a:xfrm>
            <a:off x="8757256" y="4787107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/>
          <p:nvPr/>
        </p:nvSpPr>
        <p:spPr>
          <a:xfrm>
            <a:off x="0" y="-2850"/>
            <a:ext cx="9133863" cy="5149215"/>
          </a:xfrm>
          <a:custGeom>
            <a:rect b="b" l="l" r="r" t="t"/>
            <a:pathLst>
              <a:path extrusionOk="0"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7"/>
          <p:cNvSpPr txBox="1"/>
          <p:nvPr/>
        </p:nvSpPr>
        <p:spPr>
          <a:xfrm>
            <a:off x="8629650" y="4605338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8884862" y="4801655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700"/>
          </a:p>
        </p:txBody>
      </p:sp>
      <p:pic>
        <p:nvPicPr>
          <p:cNvPr id="151" name="Google Shape;151;p28" title="Screenshot 2026-01-11 at 16.43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9250" y="0"/>
            <a:ext cx="91932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29"/>
          <p:cNvSpPr txBox="1"/>
          <p:nvPr/>
        </p:nvSpPr>
        <p:spPr>
          <a:xfrm>
            <a:off x="8629650" y="4605338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/>
          <p:nvPr/>
        </p:nvSpPr>
        <p:spPr>
          <a:xfrm>
            <a:off x="0" y="0"/>
            <a:ext cx="9784080" cy="1156239"/>
          </a:xfrm>
          <a:custGeom>
            <a:rect b="b" l="l" r="r" t="t"/>
            <a:pathLst>
              <a:path extrusionOk="0" h="2673385" w="18288000">
                <a:moveTo>
                  <a:pt x="0" y="0"/>
                </a:moveTo>
                <a:lnTo>
                  <a:pt x="18288000" y="0"/>
                </a:lnTo>
                <a:lnTo>
                  <a:pt x="18288000" y="2673385"/>
                </a:lnTo>
                <a:lnTo>
                  <a:pt x="0" y="2673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729" l="0" r="0" t="-5138"/>
            </a:stretch>
          </a:blipFill>
          <a:ln>
            <a:noFill/>
          </a:ln>
        </p:spPr>
      </p:sp>
      <p:sp>
        <p:nvSpPr>
          <p:cNvPr id="163" name="Google Shape;163;p30"/>
          <p:cNvSpPr/>
          <p:nvPr/>
        </p:nvSpPr>
        <p:spPr>
          <a:xfrm>
            <a:off x="5808449" y="1601515"/>
            <a:ext cx="2821200" cy="970235"/>
          </a:xfrm>
          <a:custGeom>
            <a:rect b="b" l="l" r="r" t="t"/>
            <a:pathLst>
              <a:path extrusionOk="0" h="1940469" w="5642401">
                <a:moveTo>
                  <a:pt x="0" y="0"/>
                </a:moveTo>
                <a:lnTo>
                  <a:pt x="5642401" y="0"/>
                </a:lnTo>
                <a:lnTo>
                  <a:pt x="5642401" y="1940469"/>
                </a:lnTo>
                <a:lnTo>
                  <a:pt x="0" y="1940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56648"/>
            </a:stretch>
          </a:blipFill>
          <a:ln>
            <a:noFill/>
          </a:ln>
        </p:spPr>
      </p:sp>
      <p:sp>
        <p:nvSpPr>
          <p:cNvPr id="164" name="Google Shape;164;p30"/>
          <p:cNvSpPr/>
          <p:nvPr/>
        </p:nvSpPr>
        <p:spPr>
          <a:xfrm>
            <a:off x="5808449" y="2748158"/>
            <a:ext cx="2821200" cy="976840"/>
          </a:xfrm>
          <a:custGeom>
            <a:rect b="b" l="l" r="r" t="t"/>
            <a:pathLst>
              <a:path extrusionOk="0" h="1953681" w="5642401">
                <a:moveTo>
                  <a:pt x="0" y="0"/>
                </a:moveTo>
                <a:lnTo>
                  <a:pt x="5642401" y="0"/>
                </a:lnTo>
                <a:lnTo>
                  <a:pt x="5642401" y="1953682"/>
                </a:lnTo>
                <a:lnTo>
                  <a:pt x="0" y="1953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30"/>
          <p:cNvSpPr/>
          <p:nvPr/>
        </p:nvSpPr>
        <p:spPr>
          <a:xfrm>
            <a:off x="5400236" y="3954947"/>
            <a:ext cx="3593945" cy="570539"/>
          </a:xfrm>
          <a:custGeom>
            <a:rect b="b" l="l" r="r" t="t"/>
            <a:pathLst>
              <a:path extrusionOk="0" h="1141077" w="7187889">
                <a:moveTo>
                  <a:pt x="0" y="0"/>
                </a:moveTo>
                <a:lnTo>
                  <a:pt x="7187890" y="0"/>
                </a:lnTo>
                <a:lnTo>
                  <a:pt x="7187890" y="1141078"/>
                </a:lnTo>
                <a:lnTo>
                  <a:pt x="0" y="1141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30"/>
          <p:cNvSpPr txBox="1"/>
          <p:nvPr/>
        </p:nvSpPr>
        <p:spPr>
          <a:xfrm>
            <a:off x="8757256" y="4731623"/>
            <a:ext cx="762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700"/>
          </a:p>
        </p:txBody>
      </p:sp>
      <p:sp>
        <p:nvSpPr>
          <p:cNvPr id="167" name="Google Shape;167;p30"/>
          <p:cNvSpPr txBox="1"/>
          <p:nvPr/>
        </p:nvSpPr>
        <p:spPr>
          <a:xfrm>
            <a:off x="0" y="1332231"/>
            <a:ext cx="5278500" cy="3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Cadre de recherche &amp; Modélisation</a:t>
            </a:r>
            <a:endParaRPr b="1" i="0" sz="15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2400" lvl="1" marL="3048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•"/>
            </a:pP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Durán (2021)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Cadre général</a:t>
            </a: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« Sports Analytics »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•"/>
            </a:pP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Positionne notre problème dans un champ de  recherche      actif.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2400" lvl="1" marL="3048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•"/>
            </a:pP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Beliën et al. (2011)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b="1"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Modèle Pédagogie </a:t>
            </a: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Décomposition en 3 phases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fr"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 à dos statique → dynamique</a:t>
            </a:r>
            <a:r>
              <a:rPr lang="fr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budgétaire → transferts limités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2400" lvl="1" marL="30480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•"/>
            </a:pP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Beliën et al. (2017) – LE MODÈLE DE RÉFÉRENCE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•"/>
            </a:pPr>
            <a:r>
              <a:rPr b="1"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PLNE unifié → Sac à Dos Multi-Périodes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•"/>
            </a:pPr>
            <a:r>
              <a:rPr i="0" lang="fr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Outils pour l‘optimisation ex-post</a:t>
            </a:r>
            <a:r>
              <a:rPr lang="fr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/>
          <p:nvPr/>
        </p:nvSpPr>
        <p:spPr>
          <a:xfrm>
            <a:off x="0" y="-700"/>
            <a:ext cx="9966960" cy="1174089"/>
          </a:xfrm>
          <a:custGeom>
            <a:rect b="b" l="l" r="r" t="t"/>
            <a:pathLst>
              <a:path extrusionOk="0" h="2348178" w="18288000">
                <a:moveTo>
                  <a:pt x="0" y="0"/>
                </a:moveTo>
                <a:lnTo>
                  <a:pt x="18288000" y="0"/>
                </a:lnTo>
                <a:lnTo>
                  <a:pt x="18288000" y="2348178"/>
                </a:lnTo>
                <a:lnTo>
                  <a:pt x="0" y="2348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799" l="0" r="0" t="-11702"/>
            </a:stretch>
          </a:blipFill>
          <a:ln>
            <a:noFill/>
          </a:ln>
        </p:spPr>
      </p:sp>
      <p:sp>
        <p:nvSpPr>
          <p:cNvPr id="173" name="Google Shape;173;p31"/>
          <p:cNvSpPr/>
          <p:nvPr/>
        </p:nvSpPr>
        <p:spPr>
          <a:xfrm>
            <a:off x="5855230" y="1430404"/>
            <a:ext cx="2950743" cy="829897"/>
          </a:xfrm>
          <a:custGeom>
            <a:rect b="b" l="l" r="r" t="t"/>
            <a:pathLst>
              <a:path extrusionOk="0" h="1659793" w="5901486">
                <a:moveTo>
                  <a:pt x="0" y="0"/>
                </a:moveTo>
                <a:lnTo>
                  <a:pt x="5901486" y="0"/>
                </a:lnTo>
                <a:lnTo>
                  <a:pt x="5901486" y="1659793"/>
                </a:lnTo>
                <a:lnTo>
                  <a:pt x="0" y="1659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31"/>
          <p:cNvSpPr/>
          <p:nvPr/>
        </p:nvSpPr>
        <p:spPr>
          <a:xfrm>
            <a:off x="5855230" y="3892388"/>
            <a:ext cx="1313301" cy="1157346"/>
          </a:xfrm>
          <a:custGeom>
            <a:rect b="b" l="l" r="r" t="t"/>
            <a:pathLst>
              <a:path extrusionOk="0" h="2314692" w="2626601">
                <a:moveTo>
                  <a:pt x="0" y="0"/>
                </a:moveTo>
                <a:lnTo>
                  <a:pt x="2626602" y="0"/>
                </a:lnTo>
                <a:lnTo>
                  <a:pt x="2626602" y="2314692"/>
                </a:lnTo>
                <a:lnTo>
                  <a:pt x="0" y="2314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31"/>
          <p:cNvSpPr/>
          <p:nvPr/>
        </p:nvSpPr>
        <p:spPr>
          <a:xfrm>
            <a:off x="5855230" y="2303217"/>
            <a:ext cx="3009573" cy="795874"/>
          </a:xfrm>
          <a:custGeom>
            <a:rect b="b" l="l" r="r" t="t"/>
            <a:pathLst>
              <a:path extrusionOk="0" h="1591748" w="6019145">
                <a:moveTo>
                  <a:pt x="0" y="0"/>
                </a:moveTo>
                <a:lnTo>
                  <a:pt x="6019145" y="0"/>
                </a:lnTo>
                <a:lnTo>
                  <a:pt x="6019145" y="1591748"/>
                </a:lnTo>
                <a:lnTo>
                  <a:pt x="0" y="159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200" r="0" t="0"/>
            </a:stretch>
          </a:blipFill>
          <a:ln>
            <a:noFill/>
          </a:ln>
        </p:spPr>
      </p:sp>
      <p:sp>
        <p:nvSpPr>
          <p:cNvPr id="176" name="Google Shape;176;p31"/>
          <p:cNvSpPr/>
          <p:nvPr/>
        </p:nvSpPr>
        <p:spPr>
          <a:xfrm>
            <a:off x="5855230" y="3142007"/>
            <a:ext cx="2850711" cy="637847"/>
          </a:xfrm>
          <a:custGeom>
            <a:rect b="b" l="l" r="r" t="t"/>
            <a:pathLst>
              <a:path extrusionOk="0" h="1275693" w="5701422">
                <a:moveTo>
                  <a:pt x="0" y="0"/>
                </a:moveTo>
                <a:lnTo>
                  <a:pt x="5701422" y="0"/>
                </a:lnTo>
                <a:lnTo>
                  <a:pt x="5701422" y="1275693"/>
                </a:lnTo>
                <a:lnTo>
                  <a:pt x="0" y="1275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31"/>
          <p:cNvSpPr txBox="1"/>
          <p:nvPr/>
        </p:nvSpPr>
        <p:spPr>
          <a:xfrm>
            <a:off x="8629650" y="4605338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700"/>
          </a:p>
        </p:txBody>
      </p:sp>
      <p:sp>
        <p:nvSpPr>
          <p:cNvPr id="178" name="Google Shape;178;p31"/>
          <p:cNvSpPr txBox="1"/>
          <p:nvPr/>
        </p:nvSpPr>
        <p:spPr>
          <a:xfrm>
            <a:off x="0" y="1182600"/>
            <a:ext cx="5855100" cy="3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Analyses critiques &amp; Perspectives théoriques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Pourquoi analyser ? → La Robustesse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• Ausloos (2024) : </a:t>
            </a: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classements réels sont instables.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→ Il faut étudier la robustesse des solutions.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b="1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Outils pour l‘analyse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• Pisinger &amp; Saidi (2017) : L‘analyse de tolérance.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(Permet de voir si un coureur reste malgré des performances variables.)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• Kumabe &amp; Yoshida (2024) : La sensibilité moyenne.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(Pour concevoir des solutions intrinsèquement stables.)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b="1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Cadre théorique sous-jacent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• Bampis et al. (2022) : « Sac à Dos Multistage ».</a:t>
            </a:r>
            <a:endParaRPr sz="5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L‘ajout du temps rend le problème très complexe.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/>
          <p:nvPr/>
        </p:nvSpPr>
        <p:spPr>
          <a:xfrm>
            <a:off x="0" y="0"/>
            <a:ext cx="909828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32"/>
          <p:cNvSpPr txBox="1"/>
          <p:nvPr/>
        </p:nvSpPr>
        <p:spPr>
          <a:xfrm>
            <a:off x="8629650" y="4605338"/>
            <a:ext cx="7620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/>
        </p:nvSpPr>
        <p:spPr>
          <a:xfrm>
            <a:off x="8629650" y="4605338"/>
            <a:ext cx="7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sz="700"/>
          </a:p>
        </p:txBody>
      </p:sp>
      <p:sp>
        <p:nvSpPr>
          <p:cNvPr id="190" name="Google Shape;190;p33"/>
          <p:cNvSpPr txBox="1"/>
          <p:nvPr/>
        </p:nvSpPr>
        <p:spPr>
          <a:xfrm>
            <a:off x="217025" y="1182600"/>
            <a:ext cx="862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L'approche de Beliën et al. (2017) formalise le fantasy cyclisme en un problème de PLNE pour identifier la gestion des coureurs.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4352421" y="1929830"/>
            <a:ext cx="44127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Variables du problème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pt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présence du coureur p à la période 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pt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identification d’un transfert entrant.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pt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le joueur p gagne des points à la période t.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pt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le joueur p est remplaçant.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reste des points à une période t.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eG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,obtention du rang e dans le groupe G.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</a:t>
            </a:r>
            <a:r>
              <a:rPr baseline="-25000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présence du joueur p dans le pool q.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2673150" y="518450"/>
            <a:ext cx="379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Présentation du modèle</a:t>
            </a:r>
            <a:endParaRPr sz="700"/>
          </a:p>
        </p:txBody>
      </p:sp>
      <p:sp>
        <p:nvSpPr>
          <p:cNvPr id="193" name="Google Shape;193;p33"/>
          <p:cNvSpPr txBox="1"/>
          <p:nvPr/>
        </p:nvSpPr>
        <p:spPr>
          <a:xfrm>
            <a:off x="132625" y="3222826"/>
            <a:ext cx="4219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Fonction objectif: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Maximiser les points gagnés par l’équipe.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Pénalité de transferts.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Valorisation du budget restant.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3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25" y="2334704"/>
            <a:ext cx="3930245" cy="4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/>
        </p:nvSpPr>
        <p:spPr>
          <a:xfrm>
            <a:off x="8766319" y="4731625"/>
            <a:ext cx="25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700"/>
          </a:p>
        </p:txBody>
      </p:sp>
      <p:pic>
        <p:nvPicPr>
          <p:cNvPr id="200" name="Google Shape;200;p34" title="banner.jpg"/>
          <p:cNvPicPr preferRelativeResize="0"/>
          <p:nvPr/>
        </p:nvPicPr>
        <p:blipFill rotWithShape="1">
          <a:blip r:embed="rId3">
            <a:alphaModFix/>
          </a:blip>
          <a:srcRect b="0" l="0" r="14361" t="0"/>
          <a:stretch/>
        </p:blipFill>
        <p:spPr>
          <a:xfrm>
            <a:off x="1" y="0"/>
            <a:ext cx="9144000" cy="8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4"/>
          <p:cNvSpPr txBox="1"/>
          <p:nvPr/>
        </p:nvSpPr>
        <p:spPr>
          <a:xfrm>
            <a:off x="285550" y="1829450"/>
            <a:ext cx="8471700" cy="3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Structure de l'équipe</a:t>
            </a:r>
            <a:r>
              <a:rPr lang="fr" sz="1500">
                <a:solidFill>
                  <a:schemeClr val="dk1"/>
                </a:solidFill>
              </a:rPr>
              <a:t> : Respect du nombre de joueurs par période.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Éligibilité aux points</a:t>
            </a:r>
            <a:r>
              <a:rPr lang="fr" sz="1500">
                <a:solidFill>
                  <a:schemeClr val="dk1"/>
                </a:solidFill>
              </a:rPr>
              <a:t> : Un joueur ne peut marquer des points que s'il est membre de l'équipe.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Limitation des contributeurs</a:t>
            </a:r>
            <a:r>
              <a:rPr lang="fr" sz="1500">
                <a:solidFill>
                  <a:schemeClr val="dk1"/>
                </a:solidFill>
              </a:rPr>
              <a:t> : Seuls les meilleurs coureurs marquent des points.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Gestion des remplaçants</a:t>
            </a:r>
            <a:r>
              <a:rPr lang="fr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Un seul remplaçant autorisé par type de joueur.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Le remplaçant doit faire partie de l'équipe sélectionnée.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Il ne score que si un titulaire de son type ne participe pas à l'événement.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361695" y="1204414"/>
            <a:ext cx="544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latin typeface="Open Sans"/>
                <a:ea typeface="Open Sans"/>
                <a:cs typeface="Open Sans"/>
                <a:sym typeface="Open Sans"/>
              </a:rPr>
              <a:t>Contraintes</a:t>
            </a:r>
            <a:r>
              <a:rPr b="1" i="0" lang="fr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du modèle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/>
        </p:nvSpPr>
        <p:spPr>
          <a:xfrm>
            <a:off x="8757241" y="4731625"/>
            <a:ext cx="18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sz="700"/>
          </a:p>
        </p:txBody>
      </p:sp>
      <p:pic>
        <p:nvPicPr>
          <p:cNvPr id="208" name="Google Shape;208;p35" title="banner.jpg"/>
          <p:cNvPicPr preferRelativeResize="0"/>
          <p:nvPr/>
        </p:nvPicPr>
        <p:blipFill rotWithShape="1">
          <a:blip r:embed="rId3">
            <a:alphaModFix/>
          </a:blip>
          <a:srcRect b="0" l="0" r="14361" t="0"/>
          <a:stretch/>
        </p:blipFill>
        <p:spPr>
          <a:xfrm>
            <a:off x="1" y="0"/>
            <a:ext cx="9144000" cy="8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361702" y="1204425"/>
            <a:ext cx="81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Dynamique budgétaire et transferts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361700" y="1950775"/>
            <a:ext cx="84717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Contrainte initiale</a:t>
            </a:r>
            <a:r>
              <a:rPr lang="fr" sz="1500">
                <a:solidFill>
                  <a:schemeClr val="dk1"/>
                </a:solidFill>
              </a:rPr>
              <a:t> : La somme des coûts des joueurs (c</a:t>
            </a:r>
            <a:r>
              <a:rPr baseline="-25000" lang="fr" sz="1500">
                <a:solidFill>
                  <a:schemeClr val="dk1"/>
                </a:solidFill>
              </a:rPr>
              <a:t>p1</a:t>
            </a:r>
            <a:r>
              <a:rPr lang="fr" sz="1500">
                <a:solidFill>
                  <a:schemeClr val="dk1"/>
                </a:solidFill>
              </a:rPr>
              <a:t>​) et du budget restant (r</a:t>
            </a:r>
            <a:r>
              <a:rPr baseline="-25000" lang="fr" sz="1500">
                <a:solidFill>
                  <a:schemeClr val="dk1"/>
                </a:solidFill>
              </a:rPr>
              <a:t>1</a:t>
            </a:r>
            <a:r>
              <a:rPr lang="fr" sz="1500">
                <a:solidFill>
                  <a:schemeClr val="dk1"/>
                </a:solidFill>
              </a:rPr>
              <a:t>​) doit égaler le budget total B.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Équilibre temporel</a:t>
            </a:r>
            <a:r>
              <a:rPr lang="fr" sz="1500">
                <a:solidFill>
                  <a:schemeClr val="dk1"/>
                </a:solidFill>
              </a:rPr>
              <a:t> : Le coût net des transferts est financé par le budget restant de la période précédente.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Identification des flux</a:t>
            </a:r>
            <a:r>
              <a:rPr lang="fr" sz="1500">
                <a:solidFill>
                  <a:schemeClr val="dk1"/>
                </a:solidFill>
              </a:rPr>
              <a:t> : La variable z</a:t>
            </a:r>
            <a:r>
              <a:rPr baseline="-25000" lang="fr" sz="1500">
                <a:solidFill>
                  <a:schemeClr val="dk1"/>
                </a:solidFill>
              </a:rPr>
              <a:t>pt​</a:t>
            </a:r>
            <a:r>
              <a:rPr lang="fr" sz="1500">
                <a:solidFill>
                  <a:schemeClr val="dk1"/>
                </a:solidFill>
              </a:rPr>
              <a:t> est forcée à 1 dès qu'un joueur rejoint l'équipe.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Limitation des transferts</a:t>
            </a:r>
            <a:r>
              <a:rPr lang="fr" sz="1500">
                <a:solidFill>
                  <a:schemeClr val="dk1"/>
                </a:solidFill>
              </a:rPr>
              <a:t> : Le nombre total de transferts entrants par période est plafonné ​.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fr" sz="1500">
                <a:solidFill>
                  <a:schemeClr val="dk1"/>
                </a:solidFill>
              </a:rPr>
              <a:t>Valorisation dynamique</a:t>
            </a:r>
            <a:r>
              <a:rPr lang="fr" sz="1500">
                <a:solidFill>
                  <a:schemeClr val="dk1"/>
                </a:solidFill>
              </a:rPr>
              <a:t> : Le modèle intègre l'évolution des coûts des coureurs (c</a:t>
            </a:r>
            <a:r>
              <a:rPr baseline="-25000" lang="fr" sz="1500">
                <a:solidFill>
                  <a:schemeClr val="dk1"/>
                </a:solidFill>
              </a:rPr>
              <a:t>pt</a:t>
            </a:r>
            <a:r>
              <a:rPr lang="fr" sz="1500">
                <a:solidFill>
                  <a:schemeClr val="dk1"/>
                </a:solidFill>
              </a:rPr>
              <a:t>​) à chaque période.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/>
          <p:nvPr/>
        </p:nvSpPr>
        <p:spPr>
          <a:xfrm>
            <a:off x="9225" y="5725"/>
            <a:ext cx="9164411" cy="5132070"/>
          </a:xfrm>
          <a:custGeom>
            <a:rect b="b" l="l" r="r" t="t"/>
            <a:pathLst>
              <a:path extrusionOk="0" h="10264140" w="18328821">
                <a:moveTo>
                  <a:pt x="0" y="0"/>
                </a:moveTo>
                <a:lnTo>
                  <a:pt x="18328821" y="0"/>
                </a:lnTo>
                <a:lnTo>
                  <a:pt x="18328821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36"/>
          <p:cNvSpPr txBox="1"/>
          <p:nvPr/>
        </p:nvSpPr>
        <p:spPr>
          <a:xfrm>
            <a:off x="8629650" y="4605350"/>
            <a:ext cx="169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/>
          <p:nvPr/>
        </p:nvSpPr>
        <p:spPr>
          <a:xfrm>
            <a:off x="0" y="0"/>
            <a:ext cx="9144000" cy="1485900"/>
          </a:xfrm>
          <a:custGeom>
            <a:rect b="b" l="l" r="r" t="t"/>
            <a:pathLst>
              <a:path extrusionOk="0" h="2971800" w="18288000">
                <a:moveTo>
                  <a:pt x="0" y="0"/>
                </a:moveTo>
                <a:lnTo>
                  <a:pt x="18288000" y="0"/>
                </a:lnTo>
                <a:lnTo>
                  <a:pt x="182880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37"/>
          <p:cNvSpPr txBox="1"/>
          <p:nvPr/>
        </p:nvSpPr>
        <p:spPr>
          <a:xfrm>
            <a:off x="434200" y="1971450"/>
            <a:ext cx="5877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 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900">
                <a:solidFill>
                  <a:schemeClr val="dk1"/>
                </a:solidFill>
              </a:rPr>
              <a:t>Interpréter</a:t>
            </a:r>
            <a:r>
              <a:rPr i="1" lang="fr" sz="1900">
                <a:solidFill>
                  <a:schemeClr val="dk1"/>
                </a:solidFill>
              </a:rPr>
              <a:t> la solution </a:t>
            </a:r>
            <a:endParaRPr i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900">
                <a:solidFill>
                  <a:schemeClr val="dk1"/>
                </a:solidFill>
              </a:rPr>
              <a:t>optimiser ≠ comprendre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8629650" y="4605350"/>
            <a:ext cx="169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/>
        </p:nvSpPr>
        <p:spPr>
          <a:xfrm>
            <a:off x="5004153" y="3285000"/>
            <a:ext cx="22011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1"/>
                </a:solidFill>
              </a:rPr>
              <a:t>Structurelles</a:t>
            </a:r>
            <a:r>
              <a:rPr lang="fr" sz="1200">
                <a:solidFill>
                  <a:schemeClr val="dk1"/>
                </a:solidFill>
              </a:rPr>
              <a:t> :</a:t>
            </a:r>
            <a:endParaRPr sz="1200">
              <a:solidFill>
                <a:schemeClr val="dk1"/>
              </a:solidFill>
            </a:endParaRPr>
          </a:p>
          <a:p>
            <a:pPr indent="-17339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budget</a:t>
            </a:r>
            <a:endParaRPr sz="1200">
              <a:solidFill>
                <a:schemeClr val="dk1"/>
              </a:solidFill>
            </a:endParaRPr>
          </a:p>
          <a:p>
            <a:pPr indent="-173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quotas</a:t>
            </a:r>
            <a:endParaRPr sz="1200">
              <a:solidFill>
                <a:schemeClr val="dk1"/>
              </a:solidFill>
            </a:endParaRPr>
          </a:p>
          <a:p>
            <a:pPr indent="-1733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transferts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8620247" y="4605350"/>
            <a:ext cx="4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700"/>
          </a:p>
        </p:txBody>
      </p:sp>
      <p:sp>
        <p:nvSpPr>
          <p:cNvPr id="230" name="Google Shape;230;p38"/>
          <p:cNvSpPr txBox="1"/>
          <p:nvPr/>
        </p:nvSpPr>
        <p:spPr>
          <a:xfrm>
            <a:off x="442048" y="1943441"/>
            <a:ext cx="3734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Stabilité de la solution optimale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Analyse de tolérance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5173400" y="1851050"/>
            <a:ext cx="3638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Dépendances et combinaisons intéressantes de coureurs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0" y="0"/>
            <a:ext cx="9144000" cy="1485900"/>
          </a:xfrm>
          <a:custGeom>
            <a:rect b="b" l="l" r="r" t="t"/>
            <a:pathLst>
              <a:path extrusionOk="0" h="2971800" w="18288000">
                <a:moveTo>
                  <a:pt x="0" y="0"/>
                </a:moveTo>
                <a:lnTo>
                  <a:pt x="18288000" y="0"/>
                </a:lnTo>
                <a:lnTo>
                  <a:pt x="182880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38"/>
          <p:cNvSpPr/>
          <p:nvPr/>
        </p:nvSpPr>
        <p:spPr>
          <a:xfrm rot="5400000">
            <a:off x="2317350" y="2676922"/>
            <a:ext cx="4509300" cy="13362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342775" y="2826975"/>
            <a:ext cx="3805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Quels coureurs sont vraiment indispensables ?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342775" y="3426754"/>
            <a:ext cx="331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Perturbations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Changement de S* 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5173400" y="2764450"/>
            <a:ext cx="386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valeur d’un coureur dépend-elle d’un autre ?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8"/>
          <p:cNvSpPr txBox="1"/>
          <p:nvPr/>
        </p:nvSpPr>
        <p:spPr>
          <a:xfrm>
            <a:off x="6282956" y="3295566"/>
            <a:ext cx="25575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1"/>
                </a:solidFill>
              </a:rPr>
              <a:t> </a:t>
            </a:r>
            <a:r>
              <a:rPr b="1" lang="fr" sz="1200">
                <a:solidFill>
                  <a:schemeClr val="dk1"/>
                </a:solidFill>
              </a:rPr>
              <a:t>Stratégiques</a:t>
            </a:r>
            <a:r>
              <a:rPr lang="fr" sz="1200">
                <a:solidFill>
                  <a:schemeClr val="dk1"/>
                </a:solidFill>
              </a:rPr>
              <a:t> :</a:t>
            </a:r>
            <a:endParaRPr sz="1200">
              <a:solidFill>
                <a:schemeClr val="dk1"/>
              </a:solidFill>
            </a:endParaRPr>
          </a:p>
          <a:p>
            <a:pPr indent="-166201" lvl="0" marL="360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complémentarité des profils</a:t>
            </a:r>
            <a:endParaRPr sz="1200">
              <a:solidFill>
                <a:schemeClr val="dk1"/>
              </a:solidFill>
            </a:endParaRPr>
          </a:p>
          <a:p>
            <a:pPr indent="-166201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redondance de performances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2949" y="4243575"/>
            <a:ext cx="2196726" cy="5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/>
        </p:nvSpPr>
        <p:spPr>
          <a:xfrm>
            <a:off x="8629650" y="4605350"/>
            <a:ext cx="25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15</a:t>
            </a:r>
            <a:endParaRPr sz="700"/>
          </a:p>
        </p:txBody>
      </p:sp>
      <p:sp>
        <p:nvSpPr>
          <p:cNvPr id="244" name="Google Shape;244;p39"/>
          <p:cNvSpPr txBox="1"/>
          <p:nvPr/>
        </p:nvSpPr>
        <p:spPr>
          <a:xfrm>
            <a:off x="420325" y="1844181"/>
            <a:ext cx="68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Défi de l’extension aux modèles multi-étapes</a:t>
            </a:r>
            <a:endParaRPr sz="700"/>
          </a:p>
        </p:txBody>
      </p:sp>
      <p:sp>
        <p:nvSpPr>
          <p:cNvPr id="245" name="Google Shape;245;p39"/>
          <p:cNvSpPr txBox="1"/>
          <p:nvPr/>
        </p:nvSpPr>
        <p:spPr>
          <a:xfrm>
            <a:off x="523750" y="2571750"/>
            <a:ext cx="4938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600">
                <a:solidFill>
                  <a:schemeClr val="dk1"/>
                </a:solidFill>
              </a:rPr>
              <a:t>Limite des outils classiques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">
                <a:solidFill>
                  <a:schemeClr val="dk1"/>
                </a:solidFill>
              </a:rPr>
              <a:t>Analyse post-opt conçue pour des problèmes statiques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9"/>
          <p:cNvSpPr txBox="1"/>
          <p:nvPr/>
        </p:nvSpPr>
        <p:spPr>
          <a:xfrm>
            <a:off x="439126" y="3295791"/>
            <a:ext cx="5023500" cy="1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600">
                <a:solidFill>
                  <a:schemeClr val="dk1"/>
                </a:solidFill>
              </a:rPr>
              <a:t>Difficulté centrale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">
                <a:solidFill>
                  <a:schemeClr val="dk1"/>
                </a:solidFill>
              </a:rPr>
              <a:t>Une perturbation 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</a:rPr>
              <a:t>se propage dans le temps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</a:rPr>
              <a:t>modifié transferts et budget futurs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5535609" y="2468316"/>
            <a:ext cx="3042600" cy="1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600">
                <a:solidFill>
                  <a:schemeClr val="dk1"/>
                </a:solidFill>
              </a:rPr>
              <a:t>Conséquence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">
                <a:solidFill>
                  <a:schemeClr val="dk1"/>
                </a:solidFill>
              </a:rPr>
              <a:t>Besoin de notions 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</a:rPr>
              <a:t>stabilité globale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">
                <a:solidFill>
                  <a:schemeClr val="dk1"/>
                </a:solidFill>
              </a:rPr>
              <a:t>tolérance dynamique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/>
          <p:nvPr/>
        </p:nvSpPr>
        <p:spPr>
          <a:xfrm>
            <a:off x="-6825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4" r="-333" t="0"/>
            </a:stretch>
          </a:blipFill>
          <a:ln>
            <a:noFill/>
          </a:ln>
        </p:spPr>
      </p:sp>
      <p:sp>
        <p:nvSpPr>
          <p:cNvPr id="254" name="Google Shape;254;p40"/>
          <p:cNvSpPr txBox="1"/>
          <p:nvPr/>
        </p:nvSpPr>
        <p:spPr>
          <a:xfrm>
            <a:off x="8601441" y="4605350"/>
            <a:ext cx="215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/>
          <p:nvPr/>
        </p:nvSpPr>
        <p:spPr>
          <a:xfrm>
            <a:off x="0" y="0"/>
            <a:ext cx="3118247" cy="5143500"/>
          </a:xfrm>
          <a:custGeom>
            <a:rect b="b" l="l" r="r" t="t"/>
            <a:pathLst>
              <a:path extrusionOk="0" h="10287000" w="6236494">
                <a:moveTo>
                  <a:pt x="0" y="0"/>
                </a:moveTo>
                <a:lnTo>
                  <a:pt x="6236494" y="0"/>
                </a:lnTo>
                <a:lnTo>
                  <a:pt x="62364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41"/>
          <p:cNvSpPr txBox="1"/>
          <p:nvPr/>
        </p:nvSpPr>
        <p:spPr>
          <a:xfrm>
            <a:off x="8629650" y="4605350"/>
            <a:ext cx="28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17</a:t>
            </a:r>
            <a:endParaRPr sz="700"/>
          </a:p>
        </p:txBody>
      </p:sp>
      <p:sp>
        <p:nvSpPr>
          <p:cNvPr id="261" name="Google Shape;261;p41"/>
          <p:cNvSpPr txBox="1"/>
          <p:nvPr/>
        </p:nvSpPr>
        <p:spPr>
          <a:xfrm>
            <a:off x="3406350" y="954275"/>
            <a:ext cx="536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 et Perspectives</a:t>
            </a:r>
            <a:endParaRPr sz="700"/>
          </a:p>
        </p:txBody>
      </p:sp>
      <p:sp>
        <p:nvSpPr>
          <p:cNvPr id="262" name="Google Shape;262;p41"/>
          <p:cNvSpPr txBox="1"/>
          <p:nvPr/>
        </p:nvSpPr>
        <p:spPr>
          <a:xfrm>
            <a:off x="3396900" y="1779801"/>
            <a:ext cx="5295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Cette synthèse met en lumière le fossé existant entre la sophistication des modèles dynamiques et les outils d’analyse de robustesse actuels.</a:t>
            </a:r>
            <a:endParaRPr sz="700"/>
          </a:p>
        </p:txBody>
      </p:sp>
      <p:sp>
        <p:nvSpPr>
          <p:cNvPr id="263" name="Google Shape;263;p41"/>
          <p:cNvSpPr txBox="1"/>
          <p:nvPr/>
        </p:nvSpPr>
        <p:spPr>
          <a:xfrm>
            <a:off x="3406300" y="3059326"/>
            <a:ext cx="5368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Perspectives de recherche</a:t>
            </a:r>
            <a:endParaRPr sz="700"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Adapter les concepts d’analyse de tolérance aux variantes dynamiques du sac à dos constitue une direction pertinente.</a:t>
            </a:r>
            <a:endParaRPr sz="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/>
          <p:nvPr/>
        </p:nvSpPr>
        <p:spPr>
          <a:xfrm>
            <a:off x="10150" y="0"/>
            <a:ext cx="9123725" cy="5143500"/>
          </a:xfrm>
          <a:custGeom>
            <a:rect b="b" l="l" r="r" t="t"/>
            <a:pathLst>
              <a:path extrusionOk="0"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42"/>
          <p:cNvSpPr txBox="1"/>
          <p:nvPr/>
        </p:nvSpPr>
        <p:spPr>
          <a:xfrm>
            <a:off x="8629650" y="4605350"/>
            <a:ext cx="16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18</a:t>
            </a:r>
            <a:endParaRPr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/>
          <p:nvPr/>
        </p:nvSpPr>
        <p:spPr>
          <a:xfrm>
            <a:off x="0" y="0"/>
            <a:ext cx="3105388" cy="5143500"/>
          </a:xfrm>
          <a:custGeom>
            <a:rect b="b" l="l" r="r" t="t"/>
            <a:pathLst>
              <a:path extrusionOk="0" h="10287000" w="6210776">
                <a:moveTo>
                  <a:pt x="0" y="0"/>
                </a:moveTo>
                <a:lnTo>
                  <a:pt x="6210776" y="0"/>
                </a:lnTo>
                <a:lnTo>
                  <a:pt x="62107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43"/>
          <p:cNvSpPr/>
          <p:nvPr/>
        </p:nvSpPr>
        <p:spPr>
          <a:xfrm>
            <a:off x="3252737" y="1128795"/>
            <a:ext cx="5809221" cy="3594455"/>
          </a:xfrm>
          <a:custGeom>
            <a:rect b="b" l="l" r="r" t="t"/>
            <a:pathLst>
              <a:path extrusionOk="0" h="7188910" w="11618441">
                <a:moveTo>
                  <a:pt x="0" y="0"/>
                </a:moveTo>
                <a:lnTo>
                  <a:pt x="11618441" y="0"/>
                </a:lnTo>
                <a:lnTo>
                  <a:pt x="11618441" y="7188910"/>
                </a:lnTo>
                <a:lnTo>
                  <a:pt x="0" y="7188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43"/>
          <p:cNvSpPr txBox="1"/>
          <p:nvPr/>
        </p:nvSpPr>
        <p:spPr>
          <a:xfrm>
            <a:off x="8776939" y="4782025"/>
            <a:ext cx="28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19</a:t>
            </a:r>
            <a:endParaRPr sz="700"/>
          </a:p>
        </p:txBody>
      </p:sp>
      <p:sp>
        <p:nvSpPr>
          <p:cNvPr id="277" name="Google Shape;277;p43"/>
          <p:cNvSpPr txBox="1"/>
          <p:nvPr/>
        </p:nvSpPr>
        <p:spPr>
          <a:xfrm>
            <a:off x="3252724" y="471500"/>
            <a:ext cx="18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Références</a:t>
            </a:r>
            <a:endParaRPr sz="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/>
          <p:nvPr/>
        </p:nvSpPr>
        <p:spPr>
          <a:xfrm>
            <a:off x="0" y="0"/>
            <a:ext cx="9944860" cy="5143500"/>
          </a:xfrm>
          <a:custGeom>
            <a:rect b="b" l="l" r="r" t="t"/>
            <a:pathLst>
              <a:path extrusionOk="0"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44"/>
          <p:cNvSpPr txBox="1"/>
          <p:nvPr/>
        </p:nvSpPr>
        <p:spPr>
          <a:xfrm>
            <a:off x="8629650" y="4605350"/>
            <a:ext cx="42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700"/>
          </a:p>
        </p:txBody>
      </p:sp>
      <p:sp>
        <p:nvSpPr>
          <p:cNvPr id="284" name="Google Shape;284;p44"/>
          <p:cNvSpPr txBox="1"/>
          <p:nvPr/>
        </p:nvSpPr>
        <p:spPr>
          <a:xfrm>
            <a:off x="2060950" y="3858575"/>
            <a:ext cx="567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700">
                <a:solidFill>
                  <a:schemeClr val="dk1"/>
                </a:solidFill>
              </a:rPr>
              <a:t>Yuxiang Zhang &amp; Kenan Alsafadi &amp; Louiza Chenaoui</a:t>
            </a:r>
            <a:endParaRPr i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